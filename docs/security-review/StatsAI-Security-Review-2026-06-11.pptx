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atsai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48" y="822960"/>
            <a:ext cx="7084074" cy="1417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4400" b="1">
                <a:solidFill>
                  <a:srgbClr val="171717"/>
                </a:solidFill>
                <a:latin typeface="Arial"/>
              </a:rPr>
              <a:t>סקירת אבטחה ומוכנות לפרודקשן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2000" b="0">
                <a:solidFill>
                  <a:srgbClr val="57534E"/>
                </a:solidFill>
                <a:latin typeface="Arial"/>
              </a:rPr>
              <a:t>דוח ממצאים ותוכנית טיפול · אתר · מובייל · API · בסיס נתונים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27248" y="4297680"/>
            <a:ext cx="5943600" cy="6858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2000" b="1">
                <a:solidFill>
                  <a:srgbClr val="92400E"/>
                </a:solidFill>
              </a:rPr>
              <a:t>⚠️  לא מוכן לעלייה — מוכן עם תיקונים (1–2 שבועות)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300" b="0">
                <a:solidFill>
                  <a:srgbClr val="57534E"/>
                </a:solidFill>
                <a:latin typeface="Arial"/>
              </a:rPr>
              <a:t>11.06.2026 · גרסה v0.13.9 · הסקירה בוצעה במצב קריאה בלבד — כל ממצא אומת מול הקוד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171717"/>
                </a:solidFill>
                <a:latin typeface="Arial"/>
              </a:rPr>
              <a:t>מה נבדק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697480" cy="1554480"/>
          </a:xfrm>
          <a:prstGeom prst="roundRect">
            <a:avLst/>
          </a:prstGeom>
          <a:solidFill>
            <a:srgbClr val="FAFAF9"/>
          </a:solidFill>
          <a:ln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3400" b="1">
                <a:solidFill>
                  <a:srgbClr val="DC2626"/>
                </a:solidFill>
              </a:rPr>
              <a:t>70</a:t>
            </a:r>
          </a:p>
          <a:p>
            <a:pPr algn="ctr" rtl="1"/>
            <a:r>
              <a:rPr sz="1500" b="1">
                <a:solidFill>
                  <a:srgbClr val="171717"/>
                </a:solidFill>
              </a:rPr>
              <a:t>נקודות קצה API</a:t>
            </a:r>
          </a:p>
          <a:p>
            <a:pPr algn="ctr" rtl="1"/>
            <a:r>
              <a:rPr sz="1100">
                <a:solidFill>
                  <a:srgbClr val="57534E"/>
                </a:solidFill>
              </a:rPr>
              <a:t>כולל מתודה והרשאה לכל אחת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697480" cy="1554480"/>
          </a:xfrm>
          <a:prstGeom prst="roundRect">
            <a:avLst/>
          </a:prstGeom>
          <a:solidFill>
            <a:srgbClr val="FAFAF9"/>
          </a:solidFill>
          <a:ln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3400" b="1">
                <a:solidFill>
                  <a:srgbClr val="DC2626"/>
                </a:solidFill>
              </a:rPr>
              <a:t>72</a:t>
            </a:r>
          </a:p>
          <a:p>
            <a:pPr algn="ctr" rtl="1"/>
            <a:r>
              <a:rPr sz="1500" b="1">
                <a:solidFill>
                  <a:srgbClr val="171717"/>
                </a:solidFill>
              </a:rPr>
              <a:t>מודלי בסיס נתונים</a:t>
            </a:r>
          </a:p>
          <a:p>
            <a:pPr algn="ctr" rtl="1"/>
            <a:r>
              <a:rPr sz="1100">
                <a:solidFill>
                  <a:srgbClr val="57534E"/>
                </a:solidFill>
              </a:rPr>
              <a:t>סכמה, אינדקסים, ייחודיות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2697480" cy="1554480"/>
          </a:xfrm>
          <a:prstGeom prst="roundRect">
            <a:avLst/>
          </a:prstGeom>
          <a:solidFill>
            <a:srgbClr val="FAFAF9"/>
          </a:solidFill>
          <a:ln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3400" b="1">
                <a:solidFill>
                  <a:srgbClr val="DC2626"/>
                </a:solidFill>
              </a:rPr>
              <a:t>392</a:t>
            </a:r>
          </a:p>
          <a:p>
            <a:pPr algn="ctr" rtl="1"/>
            <a:r>
              <a:rPr sz="1500" b="1">
                <a:solidFill>
                  <a:srgbClr val="171717"/>
                </a:solidFill>
              </a:rPr>
              <a:t>קומיטים בהיסטוריה</a:t>
            </a:r>
          </a:p>
          <a:p>
            <a:pPr algn="ctr" rtl="1"/>
            <a:r>
              <a:rPr sz="1100">
                <a:solidFill>
                  <a:srgbClr val="57534E"/>
                </a:solidFill>
              </a:rPr>
              <a:t>סריקת סודות מלאה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463040"/>
            <a:ext cx="2697480" cy="1554480"/>
          </a:xfrm>
          <a:prstGeom prst="roundRect">
            <a:avLst/>
          </a:prstGeom>
          <a:solidFill>
            <a:srgbClr val="FAFAF9"/>
          </a:solidFill>
          <a:ln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3400" b="1">
                <a:solidFill>
                  <a:srgbClr val="DC2626"/>
                </a:solidFill>
              </a:rPr>
              <a:t>11</a:t>
            </a:r>
          </a:p>
          <a:p>
            <a:pPr algn="ctr" rtl="1"/>
            <a:r>
              <a:rPr sz="1500" b="1">
                <a:solidFill>
                  <a:srgbClr val="171717"/>
                </a:solidFill>
              </a:rPr>
              <a:t>פאזות בדיקה</a:t>
            </a:r>
          </a:p>
          <a:p>
            <a:pPr algn="ctr" rtl="1"/>
            <a:r>
              <a:rPr sz="1100">
                <a:solidFill>
                  <a:srgbClr val="57534E"/>
                </a:solidFill>
              </a:rPr>
              <a:t>ארכיטקטורה ועד לוגיקת ספורט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400"/>
              </a:spcAft>
            </a:pPr>
            <a:r>
              <a:rPr sz="1600" b="1">
                <a:solidFill>
                  <a:srgbClr val="171717"/>
                </a:solidFill>
                <a:latin typeface="Arial"/>
              </a:rPr>
              <a:t>• היקף</a:t>
            </a:r>
            <a:r>
              <a:rPr sz="1600" b="0">
                <a:solidFill>
                  <a:srgbClr val="57534E"/>
                </a:solidFill>
                <a:latin typeface="Arial"/>
              </a:rPr>
              <a:t> — אתר Next.js, אפליקציית iOS (Expo), כל ה-API, סכמת Prisma, ‏74 סקריפטים, תצורות ו-CI</a:t>
            </a:r>
          </a:p>
          <a:p>
            <a:pPr algn="r" rtl="1">
              <a:spcAft>
                <a:spcPts val="1400"/>
              </a:spcAft>
            </a:pPr>
            <a:r>
              <a:rPr sz="1600" b="1">
                <a:solidFill>
                  <a:srgbClr val="171717"/>
                </a:solidFill>
                <a:latin typeface="Arial"/>
              </a:rPr>
              <a:t>• תחומים</a:t>
            </a:r>
            <a:r>
              <a:rPr sz="1600" b="0">
                <a:solidFill>
                  <a:srgbClr val="57534E"/>
                </a:solidFill>
                <a:latin typeface="Arial"/>
              </a:rPr>
              <a:t> — הזדהות והרשאות · אבטחת API · בסיס נתונים · פרונטאנד · מובייל · סודות · תלויות · לוגים · מוכנות תפעולית · לוגיקת הסטטיסטיקות</a:t>
            </a:r>
          </a:p>
          <a:p>
            <a:pPr algn="r" rtl="1">
              <a:spcAft>
                <a:spcPts val="1400"/>
              </a:spcAft>
            </a:pPr>
            <a:r>
              <a:rPr sz="1600" b="1">
                <a:solidFill>
                  <a:srgbClr val="171717"/>
                </a:solidFill>
                <a:latin typeface="Arial"/>
              </a:rPr>
              <a:t>• מתודולוגיה</a:t>
            </a:r>
            <a:r>
              <a:rPr sz="1600" b="0">
                <a:solidFill>
                  <a:srgbClr val="57534E"/>
                </a:solidFill>
                <a:latin typeface="Arial"/>
              </a:rPr>
              <a:t> — שבעה תחומי סקירה במקביל; כל ממצא אומת ידנית מול הקוד (קובץ:שורה); ללא שינוי קוד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171717"/>
                </a:solidFill>
                <a:latin typeface="Arial"/>
              </a:rPr>
              <a:t>תמונת מצב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697480" cy="14173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4000" b="1">
                <a:solidFill>
                  <a:srgbClr val="DC2626"/>
                </a:solidFill>
              </a:rPr>
              <a:t>4</a:t>
            </a:r>
          </a:p>
          <a:p>
            <a:pPr algn="ctr" rtl="1"/>
            <a:r>
              <a:rPr sz="1500" b="1">
                <a:solidFill>
                  <a:srgbClr val="171717"/>
                </a:solidFill>
              </a:rPr>
              <a:t>קריטיים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17320"/>
            <a:ext cx="2697480" cy="14173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4000" b="1">
                <a:solidFill>
                  <a:srgbClr val="EA580C"/>
                </a:solidFill>
              </a:rPr>
              <a:t>12</a:t>
            </a:r>
          </a:p>
          <a:p>
            <a:pPr algn="ctr" rtl="1"/>
            <a:r>
              <a:rPr sz="1500" b="1">
                <a:solidFill>
                  <a:srgbClr val="171717"/>
                </a:solidFill>
              </a:rPr>
              <a:t>גבוהים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2697480" cy="14173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4000" b="1">
                <a:solidFill>
                  <a:srgbClr val="CA8A04"/>
                </a:solidFill>
              </a:rPr>
              <a:t>16</a:t>
            </a:r>
          </a:p>
          <a:p>
            <a:pPr algn="ctr" rtl="1"/>
            <a:r>
              <a:rPr sz="1500" b="1">
                <a:solidFill>
                  <a:srgbClr val="171717"/>
                </a:solidFill>
              </a:rPr>
              <a:t>בינוניים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417320"/>
            <a:ext cx="2697480" cy="14173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4000" b="1">
                <a:solidFill>
                  <a:srgbClr val="059669"/>
                </a:solidFill>
              </a:rPr>
              <a:t>19</a:t>
            </a:r>
          </a:p>
          <a:p>
            <a:pPr algn="ctr" rtl="1"/>
            <a:r>
              <a:rPr sz="1500" b="1">
                <a:solidFill>
                  <a:srgbClr val="171717"/>
                </a:solidFill>
              </a:rPr>
              <a:t>נמוכים/מידע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0972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400"/>
              </a:spcAft>
            </a:pPr>
            <a:r>
              <a:rPr sz="1900" b="1">
                <a:solidFill>
                  <a:srgbClr val="171717"/>
                </a:solidFill>
                <a:latin typeface="Arial"/>
              </a:rPr>
              <a:t>השורה התחתונה: </a:t>
            </a:r>
            <a:r>
              <a:rPr sz="1900" b="0">
                <a:solidFill>
                  <a:srgbClr val="171717"/>
                </a:solidFill>
                <a:latin typeface="Arial"/>
              </a:rPr>
              <a:t>יסודות האבטחה חזקים מאוד — הבעיה היא שלמות נתונים ותפעול.</a:t>
            </a:r>
          </a:p>
          <a:p>
            <a:pPr algn="r" rtl="1">
              <a:spcAft>
                <a:spcPts val="1400"/>
              </a:spcAft>
            </a:pPr>
            <a:r>
              <a:rPr sz="1600" b="0">
                <a:solidFill>
                  <a:srgbClr val="57534E"/>
                </a:solidFill>
                <a:latin typeface="Arial"/>
              </a:rPr>
              <a:t>מה שחוסם עלייה אינו פריצה — אלא באג שמשחית סטטיסטיקות שחקנים בעריכת אירוע, מחיקה שקטה של נתונים ממוזגים במשיכה חוזרת, היעדר גיבויים על 26 שנות נתונים, וייבוא DB ללא רשת ביטחון.</a:t>
            </a:r>
          </a:p>
          <a:p>
            <a:pPr algn="r" rtl="1">
              <a:spcAft>
                <a:spcPts val="1400"/>
              </a:spcAft>
            </a:pPr>
            <a:r>
              <a:rPr sz="1600" b="1">
                <a:solidFill>
                  <a:srgbClr val="059669"/>
                </a:solidFill>
                <a:latin typeface="Arial"/>
              </a:rPr>
              <a:t>אפס: דליפת סודות · XSS · IDOR · mass-assignment · נתיב אדמין לא מוגן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171717"/>
                </a:solidFill>
                <a:latin typeface="Arial"/>
              </a:rPr>
              <a:t>מה נמצא חזק — לשמר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1554480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40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• הזדהות</a:t>
            </a:r>
            <a:r>
              <a:rPr sz="1700" b="0">
                <a:solidFill>
                  <a:srgbClr val="57534E"/>
                </a:solidFill>
                <a:latin typeface="Arial"/>
              </a:rPr>
              <a:t> — bcrypt(12), טוקנים נשמרים כ-hash בלבד, ביטול סשנים בשינוי סיסמה, refresh-rotation עם זיהוי שימוש חוזר</a:t>
            </a:r>
          </a:p>
          <a:p>
            <a:pPr algn="r" rtl="1">
              <a:spcAft>
                <a:spcPts val="140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• הרשאות</a:t>
            </a:r>
            <a:r>
              <a:rPr sz="1700" b="0">
                <a:solidFill>
                  <a:srgbClr val="57534E"/>
                </a:solidFill>
                <a:latin typeface="Arial"/>
              </a:rPr>
              <a:t> — כל 21 נתיבי האדמין נבדקו — מוגנים בצד השרת; אפס IDOR; רשימות שדות מפורשות בכל עדכון</a:t>
            </a:r>
          </a:p>
          <a:p>
            <a:pPr algn="r" rtl="1">
              <a:spcAft>
                <a:spcPts val="140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• סודות</a:t>
            </a:r>
            <a:r>
              <a:rPr sz="1700" b="0">
                <a:solidFill>
                  <a:srgbClr val="57534E"/>
                </a:solidFill>
                <a:latin typeface="Arial"/>
              </a:rPr>
              <a:t> — היסטוריית Git נקייה לחלוטין (392 קומיטים); CI סורק סודות ב-bundle המובייל</a:t>
            </a:r>
          </a:p>
          <a:p>
            <a:pPr algn="r" rtl="1">
              <a:spcAft>
                <a:spcPts val="140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• XSS</a:t>
            </a:r>
            <a:r>
              <a:rPr sz="1700" b="0">
                <a:solidFill>
                  <a:srgbClr val="57534E"/>
                </a:solidFill>
                <a:latin typeface="Arial"/>
              </a:rPr>
              <a:t> — כל תוכן דינמי — חדשות טלגרם, תשובות AI, נתונים סרוקים — מרונדר כטקסט מוגן React</a:t>
            </a:r>
          </a:p>
          <a:p>
            <a:pPr algn="r" rtl="1">
              <a:spcAft>
                <a:spcPts val="140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• מובייל</a:t>
            </a:r>
            <a:r>
              <a:rPr sz="1700" b="0">
                <a:solidFill>
                  <a:srgbClr val="57534E"/>
                </a:solidFill>
                <a:latin typeface="Arial"/>
              </a:rPr>
              <a:t> — refresh ב-Keychain בלבד, access בזיכרון בלבד, ATS מלא, אפס לוגים רגישים, אפס סודות ב-binary</a:t>
            </a:r>
          </a:p>
          <a:p>
            <a:pPr algn="r" rtl="1">
              <a:spcAft>
                <a:spcPts val="140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• ארכיטקטורת מיזוג</a:t>
            </a:r>
            <a:r>
              <a:rPr sz="1700" b="0">
                <a:solidFill>
                  <a:srgbClr val="57534E"/>
                </a:solidFill>
                <a:latin typeface="Arial"/>
              </a:rPr>
              <a:t> — staging → preview → approve → execute → rollback — העיצוב הנכון; הפערים בביצוע, לא בתפיסה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171717"/>
                </a:solidFill>
                <a:latin typeface="Arial"/>
              </a:rPr>
              <a:t>C-1 · עריכת אירוע משחיתה סטטיסטיקות קריירה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1554480" cy="38404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3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300" b="1">
                <a:solidFill>
                  <a:srgbClr val="57534E"/>
                </a:solidFill>
                <a:latin typeface="Arial"/>
              </a:rPr>
              <a:t>src/app/api/events/route.ts:21-45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40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• הבאג</a:t>
            </a:r>
            <a:r>
              <a:rPr sz="1700" b="0">
                <a:solidFill>
                  <a:srgbClr val="57534E"/>
                </a:solidFill>
                <a:latin typeface="Arial"/>
              </a:rPr>
              <a:t> — הקוד מציב goals = 1 במקום להוסיף 1 (חסר increment), וה-where חל על כל שורות השחקן — בכל העונות</a:t>
            </a:r>
          </a:p>
          <a:p>
            <a:pPr algn="r" rtl="1">
              <a:spcAft>
                <a:spcPts val="140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• התוצאה</a:t>
            </a:r>
            <a:r>
              <a:rPr sz="1700" b="0">
                <a:solidFill>
                  <a:srgbClr val="57534E"/>
                </a:solidFill>
                <a:latin typeface="Arial"/>
              </a:rPr>
              <a:t> — הוספת שער דרך עורך המשחקים מאפסת מלך שערים היסטורי ל-1 שער בכל עונה; מחיקת אירוע מציבה 1-</a:t>
            </a:r>
          </a:p>
          <a:p>
            <a:pPr algn="r" rtl="1">
              <a:spcAft>
                <a:spcPts val="140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• חשיפה</a:t>
            </a:r>
            <a:r>
              <a:rPr sz="1700" b="0">
                <a:solidFill>
                  <a:srgbClr val="57534E"/>
                </a:solidFill>
                <a:latin typeface="Arial"/>
              </a:rPr>
              <a:t> — כל עריכת אירוע מאז שהקוד עלה גרמה נזק שקט — נדרשת ביקורת נזק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46320"/>
            <a:ext cx="10972800" cy="1371600"/>
          </a:xfrm>
          <a:prstGeom prst="roundRect">
            <a:avLst/>
          </a:prstGeom>
          <a:solidFill>
            <a:srgbClr val="F0FDF9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600" b="1">
                <a:solidFill>
                  <a:srgbClr val="065F46"/>
                </a:solidFill>
              </a:rPr>
              <a:t>טיפול: תיקון ל-increment + צמצום לעונה ולמסגרת של המשחק (~10 שורות) · ביקורת נזק: goals &lt; 0 + השוואה למקורות ושחזור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171717"/>
                </a:solidFill>
                <a:latin typeface="Arial"/>
              </a:rPr>
              <a:t>C-2 · משיכה חוזרת מוחקת שחקנים ממוזגים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1554480" cy="38404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3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300" b="1">
                <a:solidFill>
                  <a:srgbClr val="57534E"/>
                </a:solidFill>
                <a:latin typeface="Arial"/>
              </a:rPr>
              <a:t>src/app/api/admin/fetch/route.ts:1636-1661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40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• הבאג</a:t>
            </a:r>
            <a:r>
              <a:rPr sz="1700" b="0">
                <a:solidFill>
                  <a:srgbClr val="57534E"/>
                </a:solidFill>
                <a:latin typeface="Arial"/>
              </a:rPr>
              <a:t> — בסוף סנכרון שחקנים נמחק כל שחקן ללא apiFootballId ששמו אינו ברשימת ה-API — שחקני IFA ממוזגים לעולם אינם ברשימה</a:t>
            </a:r>
          </a:p>
          <a:p>
            <a:pPr algn="r" rtl="1">
              <a:spcAft>
                <a:spcPts val="140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• התוצאה</a:t>
            </a:r>
            <a:r>
              <a:rPr sz="1700" b="0">
                <a:solidFill>
                  <a:srgbClr val="57534E"/>
                </a:solidFill>
                <a:latin typeface="Arial"/>
              </a:rPr>
              <a:t> — רענון סגל שגרתי משמיד בשקט שחקנים סרוקים + הסטטיסטיקות שלהם (cascade)</a:t>
            </a:r>
          </a:p>
          <a:p>
            <a:pPr algn="r" rtl="1">
              <a:spcAft>
                <a:spcPts val="140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• עיקרון שנשבר</a:t>
            </a:r>
            <a:r>
              <a:rPr sz="1700" b="0">
                <a:solidFill>
                  <a:srgbClr val="57534E"/>
                </a:solidFill>
                <a:latin typeface="Arial"/>
              </a:rPr>
              <a:t> — "מיזוג לא מוחק לעולם" — נכון במנוע המיזוג, נשבר במסלול ה-fetch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46320"/>
            <a:ext cx="10972800" cy="1097280"/>
          </a:xfrm>
          <a:prstGeom prst="roundRect">
            <a:avLst/>
          </a:prstGeom>
          <a:solidFill>
            <a:srgbClr val="F0FDF9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600" b="1">
                <a:solidFill>
                  <a:srgbClr val="065F46"/>
                </a:solidFill>
              </a:rPr>
              <a:t>טיפול: מחיקה רק לשחקנים עם apiFootballId, או תיוג מקור לכל שחקן (~5 שורות)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171717"/>
                </a:solidFill>
                <a:latin typeface="Arial"/>
              </a:rPr>
              <a:t>C-3 + C-4 · אין רשת ביטחון לנתונים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1554480" cy="38404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3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000" b="1">
                <a:solidFill>
                  <a:srgbClr val="DC2626"/>
                </a:solidFill>
                <a:latin typeface="Arial"/>
              </a:rPr>
              <a:t>C-3 · אין גיבויים אוטומטיים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600" b="0">
                <a:solidFill>
                  <a:srgbClr val="171717"/>
                </a:solidFill>
                <a:latin typeface="Arial"/>
              </a:rPr>
              <a:t>• 26 עונות (~13K משחקים, ~208K הרכבים) בעותק יחיד על דיסק יחיד — עלות שחזור: חודשי scraping</a:t>
            </a:r>
          </a:p>
          <a:p>
            <a:pPr algn="r" rtl="1">
              <a:spcAft>
                <a:spcPts val="1000"/>
              </a:spcAft>
            </a:pPr>
            <a:r>
              <a:rPr sz="1600" b="0">
                <a:solidFill>
                  <a:srgbClr val="171717"/>
                </a:solidFill>
                <a:latin typeface="Arial"/>
              </a:rPr>
              <a:t>• טיפול: cron לילי pg_dump → רוטציה 7/30 יום → עותק מחוץ לשרת + תרגול שחזור אחד (~שעה)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000" b="1">
                <a:solidFill>
                  <a:srgbClr val="DC2626"/>
                </a:solidFill>
                <a:latin typeface="Arial"/>
              </a:rPr>
              <a:t>C-4 · ייבוא DB באדמין: מחיקת הכל לפני שחזור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972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600" b="0">
                <a:solidFill>
                  <a:srgbClr val="171717"/>
                </a:solidFill>
                <a:latin typeface="Arial"/>
              </a:rPr>
              <a:t>• DROP CASCADE לכל הטבלאות ואז restore; רק "FATAL" נחשב כישלון; קובץ נטען כולו לזיכרון (OOM = השבתה באמצע מחיקה)</a:t>
            </a:r>
          </a:p>
          <a:p>
            <a:pPr algn="r" rtl="1">
              <a:spcAft>
                <a:spcPts val="1000"/>
              </a:spcAft>
            </a:pPr>
            <a:r>
              <a:rPr sz="1600" b="0">
                <a:solidFill>
                  <a:srgbClr val="171717"/>
                </a:solidFill>
                <a:latin typeface="Arial"/>
              </a:rPr>
              <a:t>• קובץ פגום אחד = אובדן מוחלט של בסיס הנתונים, ללא דרך חזרה</a:t>
            </a:r>
          </a:p>
          <a:p>
            <a:pPr algn="r" rtl="1">
              <a:spcAft>
                <a:spcPts val="1000"/>
              </a:spcAft>
            </a:pPr>
            <a:r>
              <a:rPr sz="1600" b="0">
                <a:solidFill>
                  <a:srgbClr val="171717"/>
                </a:solidFill>
                <a:latin typeface="Arial"/>
              </a:rPr>
              <a:t>• טיפול: snapshot אוטומטי לפני DROP · הגבלת גודל · שחזור לסכמה זמנית והחלפה אטומית (~חצי יום)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171717"/>
                </a:solidFill>
                <a:latin typeface="Arial"/>
              </a:rPr>
              <a:t>ממצאים בחומרה גבוהה — תמצית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1554480" cy="38404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3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550" b="1">
                <a:solidFill>
                  <a:srgbClr val="171717"/>
                </a:solidFill>
                <a:latin typeface="Arial"/>
              </a:rPr>
              <a:t>• CSRF עוקף</a:t>
            </a:r>
            <a:r>
              <a:rPr sz="1550" b="0">
                <a:solidFill>
                  <a:srgbClr val="57534E"/>
                </a:solidFill>
                <a:latin typeface="Arial"/>
              </a:rPr>
              <a:t> — בדיקת Origin עם startsWith — דומיין מתחזה עובר (תיקון: שורה אחת)</a:t>
            </a:r>
          </a:p>
          <a:p>
            <a:pPr algn="r" rtl="1">
              <a:spcAft>
                <a:spcPts val="1000"/>
              </a:spcAft>
            </a:pPr>
            <a:r>
              <a:rPr sz="1550" b="1">
                <a:solidFill>
                  <a:srgbClr val="171717"/>
                </a:solidFill>
                <a:latin typeface="Arial"/>
              </a:rPr>
              <a:t>• משחקים כפולים</a:t>
            </a:r>
            <a:r>
              <a:rPr sz="1550" b="0">
                <a:solidFill>
                  <a:srgbClr val="57534E"/>
                </a:solidFill>
                <a:latin typeface="Arial"/>
              </a:rPr>
              <a:t> — זיהוי כפילות שונה בין fetch ל-merge; כפילויות כבר קיימות בפרודקשן</a:t>
            </a:r>
          </a:p>
          <a:p>
            <a:pPr algn="r" rtl="1">
              <a:spcAft>
                <a:spcPts val="1000"/>
              </a:spcAft>
            </a:pPr>
            <a:r>
              <a:rPr sz="1550" b="1">
                <a:solidFill>
                  <a:srgbClr val="171717"/>
                </a:solidFill>
                <a:latin typeface="Arial"/>
              </a:rPr>
              <a:t>• עריכת תוצאה</a:t>
            </a:r>
            <a:r>
              <a:rPr sz="1550" b="0">
                <a:solidFill>
                  <a:srgbClr val="57534E"/>
                </a:solidFill>
                <a:latin typeface="Arial"/>
              </a:rPr>
              <a:t> — לא מעדכנת טבלה וסטטיסטיקות — אין recompute בכלל</a:t>
            </a:r>
          </a:p>
          <a:p>
            <a:pPr algn="r" rtl="1">
              <a:spcAft>
                <a:spcPts val="1000"/>
              </a:spcAft>
            </a:pPr>
            <a:r>
              <a:rPr sz="1550" b="1">
                <a:solidFill>
                  <a:srgbClr val="171717"/>
                </a:solidFill>
                <a:latin typeface="Arial"/>
              </a:rPr>
              <a:t>• מנוע המיזוג</a:t>
            </a:r>
            <a:r>
              <a:rPr sz="1550" b="0">
                <a:solidFill>
                  <a:srgbClr val="57534E"/>
                </a:solidFill>
                <a:latin typeface="Arial"/>
              </a:rPr>
              <a:t> — TOCTOU בין preview ל-execute · הרצה כפולה אפשרית · rollback מוחק נתונים מאוחרים</a:t>
            </a:r>
          </a:p>
          <a:p>
            <a:pPr algn="r" rtl="1">
              <a:spcAft>
                <a:spcPts val="1000"/>
              </a:spcAft>
            </a:pPr>
            <a:r>
              <a:rPr sz="1550" b="1">
                <a:solidFill>
                  <a:srgbClr val="171717"/>
                </a:solidFill>
                <a:latin typeface="Arial"/>
              </a:rPr>
              <a:t>• ביצועים</a:t>
            </a:r>
            <a:r>
              <a:rPr sz="1550" b="0">
                <a:solidFill>
                  <a:srgbClr val="57534E"/>
                </a:solidFill>
                <a:latin typeface="Arial"/>
              </a:rPr>
              <a:t> — דפים ציבוריים כבדים ללא cache + אינדקסים חסרים — חישוב 26 עונות בכל בקשה</a:t>
            </a:r>
          </a:p>
          <a:p>
            <a:pPr algn="r" rtl="1">
              <a:spcAft>
                <a:spcPts val="1000"/>
              </a:spcAft>
            </a:pPr>
            <a:r>
              <a:rPr sz="1550" b="1">
                <a:solidFill>
                  <a:srgbClr val="171717"/>
                </a:solidFill>
                <a:latin typeface="Arial"/>
              </a:rPr>
              <a:t>• עבודות ארוכות</a:t>
            </a:r>
            <a:r>
              <a:rPr sz="1550" b="0">
                <a:solidFill>
                  <a:srgbClr val="57534E"/>
                </a:solidFill>
                <a:latin typeface="Arial"/>
              </a:rPr>
              <a:t> — fetch בתוך בקשת HTTP (תקיעות ב-restart) · setup חוסם את האתר כולו (execSync)</a:t>
            </a:r>
          </a:p>
          <a:p>
            <a:pPr algn="r" rtl="1">
              <a:spcAft>
                <a:spcPts val="1000"/>
              </a:spcAft>
            </a:pPr>
            <a:r>
              <a:rPr sz="1550" b="1">
                <a:solidFill>
                  <a:srgbClr val="171717"/>
                </a:solidFill>
                <a:latin typeface="Arial"/>
              </a:rPr>
              <a:t>• מפתחות AI</a:t>
            </a:r>
            <a:r>
              <a:rPr sz="1550" b="0">
                <a:solidFill>
                  <a:srgbClr val="57534E"/>
                </a:solidFill>
                <a:latin typeface="Arial"/>
              </a:rPr>
              <a:t> — נשמרים plaintext ב-DB — דולפים בכל ייצוא</a:t>
            </a:r>
          </a:p>
          <a:p>
            <a:pPr algn="r" rtl="1">
              <a:spcAft>
                <a:spcPts val="1000"/>
              </a:spcAft>
            </a:pPr>
            <a:r>
              <a:rPr sz="1550" b="1">
                <a:solidFill>
                  <a:srgbClr val="171717"/>
                </a:solidFill>
                <a:latin typeface="Arial"/>
              </a:rPr>
              <a:t>• Rate-limit</a:t>
            </a:r>
            <a:r>
              <a:rPr sz="1550" b="0">
                <a:solidFill>
                  <a:srgbClr val="57534E"/>
                </a:solidFill>
                <a:latin typeface="Arial"/>
              </a:rPr>
              <a:t> — ניתן לזיוף דרך X-Forwarded-For — דורש אימות תצורת nginx (ידני)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171717"/>
                </a:solidFill>
                <a:latin typeface="Arial"/>
              </a:rPr>
              <a:t>תוכנית טיפול · שלב 0 + שלב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394960" cy="5120640"/>
          </a:xfrm>
          <a:prstGeom prst="roundRect">
            <a:avLst/>
          </a:prstGeom>
          <a:solidFill>
            <a:srgbClr val="FFF7F7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שלב 0 · עצירת הנזק — יום אחד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תיקון באג הסטטיסטיקות (C-1) + ביקורת נזק</a:t>
            </a:r>
          </a:p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צמצום מחיקת שחקנים ב-fetch‏ (C-2)</a:t>
            </a:r>
          </a:p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גיבוי לילי אוטומטי + תרגול שחזור (C-3)</a:t>
            </a:r>
          </a:p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תיקון השוואת Origin‏ (CSRF)</a:t>
            </a:r>
          </a:p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אימות X-Forwarded-For ב-nginx</a:t>
            </a:r>
          </a:p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סגירת הרשמה חברתית כש-REGISTRATION_DISABLED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394960" cy="5120640"/>
          </a:xfrm>
          <a:prstGeom prst="roundRect">
            <a:avLst/>
          </a:prstGeom>
          <a:solidFill>
            <a:srgbClr val="FFFBF5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שלב 1 · חוסמי עלייה — שבוע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50292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חיזוק db-transfer: snapshot לפני DROP‏ (C-4)</a:t>
            </a:r>
          </a:p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6 אינדקסים חסרים (15 דקות)</a:t>
            </a:r>
          </a:p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caching לדפים הציבוריים הכבדים</a:t>
            </a:r>
          </a:p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דה-דופליקציה של משחקים + recompute לטבלה</a:t>
            </a:r>
          </a:p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הצפנת מפתחות AI ב-DB</a:t>
            </a:r>
          </a:p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מקבץ Quick-wins (~2 שעות): תלויות מתות, SVG, באג פילטר, לוגים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171717"/>
                </a:solidFill>
                <a:latin typeface="Arial"/>
              </a:rPr>
              <a:t>תוכנית טיפול · שלב 2 + שלב 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394960" cy="5120640"/>
          </a:xfrm>
          <a:prstGeom prst="roundRect">
            <a:avLst/>
          </a:prstGeom>
          <a:solidFill>
            <a:srgbClr val="FEFCE8"/>
          </a:solidFill>
          <a:ln w="254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1">
                <a:solidFill>
                  <a:srgbClr val="CA8A04"/>
                </a:solidFill>
                <a:latin typeface="Arial"/>
              </a:rPr>
              <a:t>שלב 2 · עמידות — שבוע-שבועיים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מנוע מיזוג: אימות מחודש, נעילה, rollback בטוח</a:t>
            </a:r>
          </a:p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spawn אסינכרוני במקום execSync</a:t>
            </a:r>
          </a:p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מפתחות ייחודיות: Standing + competitionId</a:t>
            </a:r>
          </a:p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הגבלות pagination + אינדקסי חיפוש trigram</a:t>
            </a:r>
          </a:p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Sentry + הרחבת audit log</a:t>
            </a:r>
          </a:p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מובייל: ניקוי cache ב-logout + סינון persister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394960" cy="5120640"/>
          </a:xfrm>
          <a:prstGeom prst="roundRect">
            <a:avLst/>
          </a:prstGeom>
          <a:solidFill>
            <a:srgbClr val="F0FDF9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1">
                <a:solidFill>
                  <a:srgbClr val="059669"/>
                </a:solidFill>
                <a:latin typeface="Arial"/>
              </a:rPr>
              <a:t>שלב 3 · אחרי העלייה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50292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איחוד לוגיקת התאמת שמות (3 עותקים → 1)</a:t>
            </a:r>
          </a:p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פיצול route ה-fetch‏ (3,277 שורות) + job runner</a:t>
            </a:r>
          </a:p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טבלת זהות מועדונים לקבוצות ששינו שם</a:t>
            </a:r>
          </a:p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ביטול access tokens ב-logout-all</a:t>
            </a:r>
          </a:p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חתימת קוד ל-OTA במובייל</a:t>
            </a:r>
          </a:p>
          <a:p>
            <a:pPr algn="r" rtl="1">
              <a:spcAft>
                <a:spcPts val="800"/>
              </a:spcAft>
            </a:pPr>
            <a:r>
              <a:rPr sz="1400" b="0">
                <a:solidFill>
                  <a:srgbClr val="171717"/>
                </a:solidFill>
                <a:latin typeface="Arial"/>
              </a:rPr>
              <a:t>• next/image · bcrypt/argon2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171717"/>
                </a:solidFill>
                <a:latin typeface="Arial"/>
              </a:rPr>
              <a:t>צ'קליסט עלייה לאוויר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300"/>
              </a:spcAft>
            </a:pPr>
            <a:r>
              <a:rPr sz="1700" b="0">
                <a:solidFill>
                  <a:srgbClr val="171717"/>
                </a:solidFill>
                <a:latin typeface="Arial"/>
              </a:rPr>
              <a:t>• כל פריטי שלב 0 + שלב 1 סגורים</a:t>
            </a:r>
          </a:p>
          <a:p>
            <a:pPr algn="r" rtl="1">
              <a:spcAft>
                <a:spcPts val="1300"/>
              </a:spcAft>
            </a:pPr>
            <a:r>
              <a:rPr sz="1700" b="0">
                <a:solidFill>
                  <a:srgbClr val="171717"/>
                </a:solidFill>
                <a:latin typeface="Arial"/>
              </a:rPr>
              <a:t>• ביקורת הנזק של C-1 הושלמה והערכים שוחזרו</a:t>
            </a:r>
          </a:p>
          <a:p>
            <a:pPr algn="r" rtl="1">
              <a:spcAft>
                <a:spcPts val="1300"/>
              </a:spcAft>
            </a:pPr>
            <a:r>
              <a:rPr sz="1700" b="0">
                <a:solidFill>
                  <a:srgbClr val="171717"/>
                </a:solidFill>
                <a:latin typeface="Arial"/>
              </a:rPr>
              <a:t>• תרגול שחזור מגיבוי בוצע בהצלחה — גיבוי שלא שוחזר אינו גיבוי</a:t>
            </a:r>
          </a:p>
          <a:p>
            <a:pPr algn="r" rtl="1">
              <a:spcAft>
                <a:spcPts val="1300"/>
              </a:spcAft>
            </a:pPr>
            <a:r>
              <a:rPr sz="1700" b="0">
                <a:solidFill>
                  <a:srgbClr val="171717"/>
                </a:solidFill>
                <a:latin typeface="Arial"/>
              </a:rPr>
              <a:t>• תצורת nginx אומתה (X-Forwarded-For נדרס בשרת)</a:t>
            </a:r>
          </a:p>
          <a:p>
            <a:pPr algn="r" rtl="1">
              <a:spcAft>
                <a:spcPts val="1300"/>
              </a:spcAft>
            </a:pPr>
            <a:r>
              <a:rPr sz="1700" b="0">
                <a:solidFill>
                  <a:srgbClr val="171717"/>
                </a:solidFill>
                <a:latin typeface="Arial"/>
              </a:rPr>
              <a:t>• REGISTRATION_DISABLED מאומת בפרודקשן, כולל מסלול חברתי</a:t>
            </a:r>
          </a:p>
          <a:p>
            <a:pPr algn="r" rtl="1">
              <a:spcAft>
                <a:spcPts val="1300"/>
              </a:spcAft>
            </a:pPr>
            <a:r>
              <a:rPr sz="1700" b="0">
                <a:solidFill>
                  <a:srgbClr val="171717"/>
                </a:solidFill>
                <a:latin typeface="Arial"/>
              </a:rPr>
              <a:t>• רוטציית מפתחות API חיצוניים (נקיים בגיט אך ותיקים בסביבה)</a:t>
            </a:r>
          </a:p>
          <a:p>
            <a:pPr algn="r" rtl="1">
              <a:spcAft>
                <a:spcPts val="1300"/>
              </a:spcAft>
            </a:pPr>
            <a:r>
              <a:rPr sz="1700" b="0">
                <a:solidFill>
                  <a:srgbClr val="171717"/>
                </a:solidFill>
                <a:latin typeface="Arial"/>
              </a:rPr>
              <a:t>• רוטציית לוגים + התראת שטח דיסק</a:t>
            </a:r>
          </a:p>
          <a:p>
            <a:pPr algn="r" rtl="1">
              <a:spcAft>
                <a:spcPts val="1300"/>
              </a:spcAft>
            </a:pPr>
            <a:r>
              <a:rPr sz="1700" b="0">
                <a:solidFill>
                  <a:srgbClr val="171717"/>
                </a:solidFill>
                <a:latin typeface="Arial"/>
              </a:rPr>
              <a:t>• בדיקת עומס בסיסית על דף הבית והטבלאות אחרי ה-caching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4000" b="1">
                <a:solidFill>
                  <a:srgbClr val="171717"/>
                </a:solidFill>
                <a:latin typeface="Arial"/>
              </a:rPr>
              <a:t>Go / No-Go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2194560"/>
            <a:ext cx="7223760" cy="914400"/>
          </a:xfrm>
          <a:prstGeom prst="roundRect">
            <a:avLst/>
          </a:prstGeom>
          <a:solidFill>
            <a:srgbClr val="FEE2E2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2400" b="1">
                <a:solidFill>
                  <a:srgbClr val="991B1B"/>
                </a:solidFill>
              </a:rPr>
              <a:t>NO-GO כרגע — אך ורק בגלל C-1 עד C-4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1200"/>
              </a:spcAft>
            </a:pPr>
            <a:r>
              <a:rPr sz="1800" b="1">
                <a:solidFill>
                  <a:srgbClr val="171717"/>
                </a:solidFill>
                <a:latin typeface="Arial"/>
              </a:rPr>
              <a:t>מדובר בימים, לא בחודשים: </a:t>
            </a:r>
            <a:r>
              <a:rPr sz="1800" b="0">
                <a:solidFill>
                  <a:srgbClr val="171717"/>
                </a:solidFill>
                <a:latin typeface="Arial"/>
              </a:rPr>
              <a:t>C-1 הוא ~10 שורות, C-2 ~5 שורות, גיבויים — cron אחד.</a:t>
            </a:r>
          </a:p>
          <a:p>
            <a:pPr algn="ctr" rtl="1">
              <a:spcAft>
                <a:spcPts val="1200"/>
              </a:spcAft>
            </a:pPr>
            <a:r>
              <a:rPr sz="1600" b="0">
                <a:solidFill>
                  <a:srgbClr val="57534E"/>
                </a:solidFill>
                <a:latin typeface="Arial"/>
              </a:rPr>
              <a:t>הארכיטקטורה — staging→rollback, סטטיסטיקות בצד שרת, auth נקי — היא היסוד הנכון ואינה דורשת בנייה מחדש.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5120640"/>
            <a:ext cx="7223760" cy="914400"/>
          </a:xfrm>
          <a:prstGeom prst="roundRect">
            <a:avLst/>
          </a:prstGeom>
          <a:solidFill>
            <a:srgbClr val="F0FDF9"/>
          </a:solidFill>
          <a:ln w="317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2400" b="1">
                <a:solidFill>
                  <a:srgbClr val="065F46"/>
                </a:solidFill>
              </a:rPr>
              <a:t>עם סגירת שלב 0 + שלב 1: GO 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